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8" r:id="rId3"/>
    <p:sldId id="259" r:id="rId4"/>
    <p:sldId id="260" r:id="rId5"/>
    <p:sldId id="261" r:id="rId6"/>
    <p:sldId id="265" r:id="rId7"/>
    <p:sldId id="262" r:id="rId8"/>
    <p:sldId id="268" r:id="rId9"/>
    <p:sldId id="264" r:id="rId10"/>
    <p:sldId id="267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988FA63-06C2-4370-8EF6-1412FE8ABE08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326984-3C7D-4BF7-B007-BFEB3AD92F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56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326984-3C7D-4BF7-B007-BFEB3AD92F6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4735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94360" y="731520"/>
            <a:ext cx="109728" cy="5120640"/>
          </a:xfrm>
          <a:prstGeom prst="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01561" y="2183844"/>
            <a:ext cx="6865923" cy="15081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0E2B54"/>
                </a:solidFill>
              </a:defRPr>
            </a:pPr>
            <a:r>
              <a:rPr lang="en-US" sz="4600" b="1" dirty="0"/>
              <a:t>API Performance Monitoring</a:t>
            </a:r>
            <a:endParaRPr dirty="0"/>
          </a:p>
        </p:txBody>
      </p:sp>
      <p:sp>
        <p:nvSpPr>
          <p:cNvPr id="5" name="TextBox 4"/>
          <p:cNvSpPr txBox="1"/>
          <p:nvPr/>
        </p:nvSpPr>
        <p:spPr>
          <a:xfrm>
            <a:off x="901561" y="3691949"/>
            <a:ext cx="649229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293B"/>
                </a:solidFill>
              </a:defRPr>
            </a:pPr>
            <a:r>
              <a:rPr lang="en-US" sz="1200" dirty="0">
                <a:solidFill>
                  <a:srgbClr val="008577"/>
                </a:solidFill>
              </a:rPr>
              <a:t>Logs → ETL → MySQL → Analytics → Alerts → Power BI Dashboard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Project Objective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239356"/>
            <a:ext cx="5394960" cy="5161444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1868162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Ingestion and Validation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239356"/>
            <a:ext cx="5394960" cy="5161444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905803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Proposed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473952"/>
            <a:ext cx="18473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endParaRPr lang="en-US" dirty="0"/>
          </a:p>
          <a:p>
            <a:pPr>
              <a:defRPr sz="1000">
                <a:solidFill>
                  <a:srgbClr val="475569"/>
                </a:solidFill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431266" y="6492240"/>
            <a:ext cx="52771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02</a:t>
            </a:r>
            <a:r>
              <a:rPr dirty="0"/>
              <a:t>/</a:t>
            </a:r>
            <a:r>
              <a:rPr lang="en-US" dirty="0"/>
              <a:t>09</a:t>
            </a:r>
            <a:endParaRPr dirty="0"/>
          </a:p>
        </p:txBody>
      </p:sp>
      <p:sp>
        <p:nvSpPr>
          <p:cNvPr id="13" name="Rectangle 1">
            <a:extLst>
              <a:ext uri="{FF2B5EF4-FFF2-40B4-BE49-F238E27FC236}">
                <a16:creationId xmlns:a16="http://schemas.microsoft.com/office/drawing/2014/main" id="{AB1130AF-161C-D1CD-7EEB-D41EF4383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400" y="4119405"/>
            <a:ext cx="184731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4" name="Rectangle 2">
            <a:extLst>
              <a:ext uri="{FF2B5EF4-FFF2-40B4-BE49-F238E27FC236}">
                <a16:creationId xmlns:a16="http://schemas.microsoft.com/office/drawing/2014/main" id="{170FFA56-6B47-4395-096A-C6C5775463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6291" y="3303770"/>
            <a:ext cx="529232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6D274F72-DF46-0720-8F94-D92C77DC7B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6291" y="2640598"/>
            <a:ext cx="3690281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indent="-28575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Logs are </a:t>
            </a:r>
            <a:r>
              <a:rPr lang="en-US" b="1" dirty="0"/>
              <a:t>too many and messy</a:t>
            </a:r>
          </a:p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→ Hard to understand directly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285750" indent="-28575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Monitoring is </a:t>
            </a:r>
            <a:r>
              <a:rPr lang="en-US" b="1" dirty="0"/>
              <a:t>manual and slow</a:t>
            </a:r>
          </a:p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→ We react </a:t>
            </a:r>
            <a:r>
              <a:rPr lang="en-US" i="1" dirty="0"/>
              <a:t>after</a:t>
            </a:r>
            <a:r>
              <a:rPr lang="en-US" dirty="0"/>
              <a:t> issues happen</a:t>
            </a:r>
          </a:p>
          <a:p>
            <a:pPr marL="285750" indent="-28575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indent="-285750" algn="just" defTabSz="91440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Bad data is </a:t>
            </a:r>
            <a:r>
              <a:rPr lang="en-US" b="1" dirty="0"/>
              <a:t>hidden or ignored</a:t>
            </a:r>
          </a:p>
          <a:p>
            <a:pPr lvl="1" algn="just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→ Causes wrong analysis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7ECF7EA-3CB8-61B9-AFE1-D57AC07D5E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79935" y="2691234"/>
            <a:ext cx="4523494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Build a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complete monitoring pipeline</a:t>
            </a:r>
            <a:endParaRPr lang="en-US" altLang="en-US" sz="1400" dirty="0">
              <a:latin typeface="Arial" panose="020B0604020202020204" pitchFamily="34" charset="0"/>
            </a:endParaRPr>
          </a:p>
          <a:p>
            <a:pPr lvl="1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→ From logs → database → dashboard</a:t>
            </a:r>
          </a:p>
          <a:p>
            <a:pPr lvl="1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R="0" lvl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Separate: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✅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Clean data  |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❌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Rejected (bad) data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 SQL </a:t>
            </a:r>
            <a:r>
              <a:rPr lang="en-US" altLang="en-US" dirty="0"/>
              <a:t>to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calculate: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KPIs (success rate, latency) </a:t>
            </a:r>
          </a:p>
          <a:p>
            <a:pPr marL="742950" lvl="1" indent="-285750" defTabSz="914400" eaLnBrk="0" fontAlgn="base" hangingPunct="0">
              <a:spcBef>
                <a:spcPct val="0"/>
              </a:spcBef>
              <a:spcAft>
                <a:spcPct val="0"/>
              </a:spcAft>
              <a:buFont typeface="Courier New" panose="02070309020205020404" pitchFamily="49" charset="0"/>
              <a:buChar char="o"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accent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Risk metrics (slow queries, errors)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Show everything in </a:t>
            </a: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Power BI dashboard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8F3CA6-C6B0-8F15-5BED-33D72DAF36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0349270"/>
              </p:ext>
            </p:extLst>
          </p:nvPr>
        </p:nvGraphicFramePr>
        <p:xfrm>
          <a:off x="1722120" y="5227193"/>
          <a:ext cx="3048000" cy="365760"/>
        </p:xfrm>
        <a:graphic>
          <a:graphicData uri="http://schemas.openxmlformats.org/drawingml/2006/table">
            <a:tbl>
              <a:tblPr/>
              <a:tblGrid>
                <a:gridCol w="609600">
                  <a:extLst>
                    <a:ext uri="{9D8B030D-6E8A-4147-A177-3AD203B41FA5}">
                      <a16:colId xmlns:a16="http://schemas.microsoft.com/office/drawing/2014/main" val="1781510976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55875473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2140757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7717261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042639847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32599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7620" marR="7620" marT="762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325816"/>
                  </a:ext>
                </a:extLst>
              </a:tr>
            </a:tbl>
          </a:graphicData>
        </a:graphic>
      </p:graphicFrame>
      <p:pic>
        <p:nvPicPr>
          <p:cNvPr id="21" name="Picture 20">
            <a:extLst>
              <a:ext uri="{FF2B5EF4-FFF2-40B4-BE49-F238E27FC236}">
                <a16:creationId xmlns:a16="http://schemas.microsoft.com/office/drawing/2014/main" id="{D2040640-B72E-7D68-88DB-E18CCFDE22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420307"/>
            <a:ext cx="5120640" cy="530102"/>
          </a:xfrm>
          <a:prstGeom prst="rect">
            <a:avLst/>
          </a:prstGeom>
          <a:ln>
            <a:noFill/>
          </a:ln>
          <a:effectLst>
            <a:glow rad="228600">
              <a:schemeClr val="accent3">
                <a:satMod val="175000"/>
                <a:alpha val="40000"/>
              </a:schemeClr>
            </a:glow>
            <a:outerShdw blurRad="107950" dist="12700" dir="5400000" algn="ctr">
              <a:srgbClr val="000000"/>
            </a:outerShdw>
            <a:reflection blurRad="6350" stA="52000" endA="300" endPos="35000" dir="5400000" sy="-100000" algn="bl" rotWithShape="0"/>
          </a:effectLst>
          <a:scene3d>
            <a:camera prst="orthographicFront">
              <a:rot lat="0" lon="0" rev="0"/>
            </a:camera>
            <a:lightRig rig="soft" dir="t">
              <a:rot lat="0" lon="0" rev="0"/>
            </a:lightRig>
          </a:scene3d>
          <a:sp3d contourW="44450" prstMaterial="matte">
            <a:bevelT w="63500" h="63500" prst="artDeco"/>
            <a:contourClr>
              <a:srgbClr val="FFFFFF"/>
            </a:contourClr>
          </a:sp3d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Architecture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24636" y="997558"/>
            <a:ext cx="57122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08577"/>
                </a:solidFill>
              </a:defRPr>
            </a:pPr>
            <a:r>
              <a:rPr sz="1600" dirty="0"/>
              <a:t>Updated End-to-End Pipeline (Final SQL Flow)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011680"/>
            <a:ext cx="2011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E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E2B54"/>
                </a:solidFill>
              </a:defRPr>
            </a:pPr>
            <a:r>
              <a:t>Log Generator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51176" y="2359152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8577"/>
                </a:solidFill>
              </a:defRPr>
            </a:pPr>
            <a:r>
              <a:t>&gt;</a:t>
            </a:r>
          </a:p>
        </p:txBody>
      </p:sp>
      <p:sp>
        <p:nvSpPr>
          <p:cNvPr id="7" name="Rectangle 6"/>
          <p:cNvSpPr/>
          <p:nvPr/>
        </p:nvSpPr>
        <p:spPr>
          <a:xfrm>
            <a:off x="2788920" y="2011680"/>
            <a:ext cx="2011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E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E2B54"/>
                </a:solidFill>
              </a:defRPr>
            </a:pPr>
            <a:r>
              <a:t>Validation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37176" y="2359152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8577"/>
                </a:solidFill>
              </a:defRPr>
            </a:pPr>
            <a:r>
              <a:t>&gt;</a:t>
            </a:r>
          </a:p>
        </p:txBody>
      </p:sp>
      <p:sp>
        <p:nvSpPr>
          <p:cNvPr id="9" name="Rectangle 8"/>
          <p:cNvSpPr/>
          <p:nvPr/>
        </p:nvSpPr>
        <p:spPr>
          <a:xfrm>
            <a:off x="5074920" y="2011680"/>
            <a:ext cx="2011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E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E2B54"/>
                </a:solidFill>
              </a:defRPr>
            </a:pPr>
            <a:r>
              <a:t>Storage Layer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3176" y="2359152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8577"/>
                </a:solidFill>
              </a:defRPr>
            </a:pPr>
            <a:r>
              <a:t>&gt;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60920" y="2011680"/>
            <a:ext cx="2011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E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E2B54"/>
                </a:solidFill>
              </a:defRPr>
            </a:pPr>
            <a:r>
              <a:t>SQL Analytics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09176" y="2359152"/>
            <a:ext cx="228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8577"/>
                </a:solidFill>
              </a:defRPr>
            </a:pPr>
            <a:r>
              <a:t>&gt;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46920" y="2011680"/>
            <a:ext cx="2011680" cy="1097280"/>
          </a:xfrm>
          <a:prstGeom prst="rect">
            <a:avLst/>
          </a:prstGeom>
          <a:solidFill>
            <a:srgbClr val="FFFFFF"/>
          </a:solidFill>
          <a:ln>
            <a:solidFill>
              <a:srgbClr val="CED8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E2B54"/>
                </a:solidFill>
              </a:defRPr>
            </a:pPr>
            <a:r>
              <a:t>Power BI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7696" y="3810001"/>
            <a:ext cx="8341258" cy="146963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Raw events are generated continuously and written to data/raw/log.csv.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Business and technical validation separates clean records from rejected records.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b="1" dirty="0" err="1"/>
              <a:t>system_logs</a:t>
            </a:r>
            <a:r>
              <a:rPr b="1" dirty="0"/>
              <a:t>, </a:t>
            </a:r>
            <a:r>
              <a:rPr b="1" dirty="0" err="1"/>
              <a:t>rejected_logs</a:t>
            </a:r>
            <a:r>
              <a:rPr b="1" dirty="0"/>
              <a:t>, </a:t>
            </a:r>
            <a:r>
              <a:rPr dirty="0"/>
              <a:t>and </a:t>
            </a:r>
            <a:r>
              <a:rPr b="1" dirty="0" err="1"/>
              <a:t>etl_metrics</a:t>
            </a:r>
            <a:r>
              <a:rPr b="1" dirty="0"/>
              <a:t> </a:t>
            </a:r>
            <a:r>
              <a:rPr dirty="0"/>
              <a:t>maintain analytic and governance state.</a:t>
            </a:r>
          </a:p>
          <a:p>
            <a:pPr marL="285750" indent="-285750">
              <a:spcAft>
                <a:spcPts val="7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SQL scripts compute </a:t>
            </a:r>
            <a:r>
              <a:rPr b="1" dirty="0"/>
              <a:t>KPI, trend, tail-latency,</a:t>
            </a:r>
            <a:r>
              <a:rPr dirty="0"/>
              <a:t> and </a:t>
            </a:r>
            <a:r>
              <a:rPr b="1" dirty="0"/>
              <a:t>risk metrics </a:t>
            </a:r>
            <a:r>
              <a:rPr dirty="0"/>
              <a:t>for dashboards.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50930" y="6492240"/>
            <a:ext cx="52771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03</a:t>
            </a:r>
            <a:r>
              <a:rPr dirty="0"/>
              <a:t>/</a:t>
            </a:r>
            <a:r>
              <a:rPr lang="en-US" dirty="0"/>
              <a:t>09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Data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95985" y="1863254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Core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147" y="2979152"/>
            <a:ext cx="5159478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800"/>
              </a:spcAft>
              <a:buFont typeface="+mj-lt"/>
              <a:buAutoNum type="arabicPeriod"/>
              <a:defRPr sz="1800">
                <a:solidFill>
                  <a:srgbClr val="1E293B"/>
                </a:solidFill>
              </a:defRPr>
            </a:pPr>
            <a:r>
              <a:rPr sz="2100" b="1" dirty="0" err="1">
                <a:solidFill>
                  <a:srgbClr val="008577"/>
                </a:solidFill>
              </a:rPr>
              <a:t>system_logs</a:t>
            </a:r>
            <a:r>
              <a:rPr sz="2100" b="1" dirty="0">
                <a:solidFill>
                  <a:srgbClr val="008577"/>
                </a:solidFill>
              </a:rPr>
              <a:t>: </a:t>
            </a:r>
            <a:r>
              <a:rPr sz="2000" dirty="0">
                <a:latin typeface="+mj-lt"/>
              </a:rPr>
              <a:t>request-level fact table.</a:t>
            </a:r>
          </a:p>
          <a:p>
            <a:pPr marL="457200" indent="-457200">
              <a:spcAft>
                <a:spcPts val="800"/>
              </a:spcAft>
              <a:buFont typeface="+mj-lt"/>
              <a:buAutoNum type="arabicPeriod"/>
              <a:defRPr sz="1800">
                <a:solidFill>
                  <a:srgbClr val="1E293B"/>
                </a:solidFill>
              </a:defRPr>
            </a:pPr>
            <a:r>
              <a:rPr sz="2100" b="1" dirty="0" err="1">
                <a:solidFill>
                  <a:srgbClr val="008577"/>
                </a:solidFill>
              </a:rPr>
              <a:t>rejected_logs</a:t>
            </a:r>
            <a:r>
              <a:rPr sz="2100" b="1" dirty="0">
                <a:solidFill>
                  <a:srgbClr val="008577"/>
                </a:solidFill>
              </a:rPr>
              <a:t>: </a:t>
            </a:r>
            <a:r>
              <a:rPr sz="2000" dirty="0">
                <a:latin typeface="+mj-lt"/>
              </a:rPr>
              <a:t>invalid rows with reason.</a:t>
            </a:r>
          </a:p>
          <a:p>
            <a:pPr marL="457200" indent="-457200">
              <a:spcAft>
                <a:spcPts val="800"/>
              </a:spcAft>
              <a:buFont typeface="+mj-lt"/>
              <a:buAutoNum type="arabicPeriod"/>
              <a:defRPr sz="1800">
                <a:solidFill>
                  <a:srgbClr val="1E293B"/>
                </a:solidFill>
              </a:defRPr>
            </a:pPr>
            <a:r>
              <a:rPr sz="2100" b="1" dirty="0" err="1">
                <a:solidFill>
                  <a:srgbClr val="008577"/>
                </a:solidFill>
              </a:rPr>
              <a:t>etl_metrics</a:t>
            </a:r>
            <a:r>
              <a:rPr sz="2100" b="1" dirty="0">
                <a:solidFill>
                  <a:srgbClr val="008577"/>
                </a:solidFill>
              </a:rPr>
              <a:t>: </a:t>
            </a:r>
            <a:r>
              <a:rPr sz="2000" dirty="0">
                <a:latin typeface="+mj-lt"/>
              </a:rPr>
              <a:t>run totals and freshness.</a:t>
            </a:r>
            <a:endParaRPr lang="en-US" sz="2000" dirty="0">
              <a:latin typeface="+mj-lt"/>
            </a:endParaRPr>
          </a:p>
          <a:p>
            <a:pPr marL="457200" indent="-457200">
              <a:spcAft>
                <a:spcPts val="800"/>
              </a:spcAft>
              <a:buFont typeface="+mj-lt"/>
              <a:buAutoNum type="arabicPeriod"/>
              <a:defRPr sz="1800">
                <a:solidFill>
                  <a:srgbClr val="1E293B"/>
                </a:solidFill>
              </a:defRPr>
            </a:pPr>
            <a:r>
              <a:rPr sz="2100" b="1" dirty="0" err="1">
                <a:solidFill>
                  <a:srgbClr val="008577"/>
                </a:solidFill>
              </a:rPr>
              <a:t>system_logs_archive</a:t>
            </a:r>
            <a:r>
              <a:rPr sz="2100" b="1" dirty="0">
                <a:solidFill>
                  <a:srgbClr val="008577"/>
                </a:solidFill>
              </a:rPr>
              <a:t>: </a:t>
            </a:r>
            <a:r>
              <a:rPr sz="2000" dirty="0">
                <a:latin typeface="+mj-lt"/>
              </a:rPr>
              <a:t>long-term retention.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86472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Data Quality and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939476"/>
            <a:ext cx="4467890" cy="1508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CHECK constraints protect data quality.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FK links rejected rows to ETL run.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b="1" dirty="0"/>
              <a:t>Indexes speed time and endpoint queries.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Orphan check confirms audit integrity.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50930" y="6502072"/>
            <a:ext cx="52771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04/09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Analytics and Diagnostics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t>Basic, KPI, Advanced, Diagnostics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846320" cy="4544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defRPr sz="1800">
                <a:solidFill>
                  <a:srgbClr val="1E293B"/>
                </a:solidFill>
              </a:defRPr>
            </a:pPr>
            <a:r>
              <a:rPr b="1" dirty="0"/>
              <a:t>Basic: </a:t>
            </a:r>
            <a:endParaRPr lang="en-US" b="1" dirty="0"/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/>
              <a:t>traffic,</a:t>
            </a:r>
            <a:endParaRPr lang="en-US" dirty="0"/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/>
              <a:t>reliability,</a:t>
            </a:r>
            <a:endParaRPr lang="en-US" dirty="0"/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/>
              <a:t>latency.</a:t>
            </a:r>
            <a:endParaRPr lang="en-US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defRPr sz="1800">
                <a:solidFill>
                  <a:srgbClr val="1E293B"/>
                </a:solidFill>
              </a:defRPr>
            </a:pPr>
            <a:r>
              <a:rPr b="1" dirty="0"/>
              <a:t>Trend: </a:t>
            </a:r>
            <a:r>
              <a:rPr lang="en-US" b="1" dirty="0"/>
              <a:t> </a:t>
            </a:r>
            <a:r>
              <a:rPr dirty="0"/>
              <a:t>spikes by minute and hour.</a:t>
            </a:r>
            <a:endParaRPr lang="en-US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defRPr sz="1800">
                <a:solidFill>
                  <a:srgbClr val="1E293B"/>
                </a:solidFill>
              </a:defRPr>
            </a:pPr>
            <a:r>
              <a:rPr b="1" dirty="0"/>
              <a:t>Endpoint:</a:t>
            </a:r>
            <a:endParaRPr lang="en-US" b="1" dirty="0"/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>
                <a:solidFill>
                  <a:srgbClr val="1E293B"/>
                </a:solidFill>
              </a:rPr>
              <a:t>slow</a:t>
            </a:r>
            <a:r>
              <a:rPr lang="en-US" dirty="0">
                <a:solidFill>
                  <a:srgbClr val="1E293B"/>
                </a:solidFill>
              </a:rPr>
              <a:t> </a:t>
            </a:r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>
                <a:solidFill>
                  <a:srgbClr val="1E293B"/>
                </a:solidFill>
              </a:rPr>
              <a:t>failure-prone APIs.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defRPr sz="1800">
                <a:solidFill>
                  <a:srgbClr val="1E293B"/>
                </a:solidFill>
              </a:defRPr>
            </a:pPr>
            <a:r>
              <a:rPr b="1" dirty="0"/>
              <a:t>Advanced: </a:t>
            </a:r>
            <a:endParaRPr lang="en-US" b="1" dirty="0"/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>
                <a:solidFill>
                  <a:srgbClr val="1E293B"/>
                </a:solidFill>
              </a:rPr>
              <a:t>latency buckets,</a:t>
            </a:r>
            <a:endParaRPr lang="en-US" dirty="0">
              <a:solidFill>
                <a:srgbClr val="1E293B"/>
              </a:solidFill>
            </a:endParaRPr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>
                <a:solidFill>
                  <a:srgbClr val="1E293B"/>
                </a:solidFill>
              </a:rPr>
              <a:t>risk scoring,</a:t>
            </a:r>
            <a:endParaRPr lang="en-US" dirty="0">
              <a:solidFill>
                <a:srgbClr val="1E293B"/>
              </a:solidFill>
            </a:endParaRPr>
          </a:p>
          <a:p>
            <a:pPr marL="400050" indent="-400050">
              <a:spcAft>
                <a:spcPts val="800"/>
              </a:spcAft>
              <a:buClr>
                <a:schemeClr val="accent2">
                  <a:lumMod val="75000"/>
                </a:schemeClr>
              </a:buClr>
              <a:buSzPct val="80000"/>
              <a:buFont typeface="+mj-lt"/>
              <a:buAutoNum type="romanLcPeriod"/>
              <a:defRPr sz="1800">
                <a:solidFill>
                  <a:srgbClr val="1E293B"/>
                </a:solidFill>
              </a:defRPr>
            </a:pPr>
            <a:r>
              <a:rPr dirty="0">
                <a:solidFill>
                  <a:srgbClr val="1E293B"/>
                </a:solidFill>
              </a:rPr>
              <a:t>root-cause guidance.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t>KPI + Diagnostics + Action Queries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4786375" cy="1887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E293B"/>
                </a:solidFill>
              </a:defRPr>
            </a:pPr>
            <a:r>
              <a:rPr b="1" dirty="0"/>
              <a:t>KPI: </a:t>
            </a:r>
            <a:endParaRPr lang="en-US" b="1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	</a:t>
            </a:r>
            <a:r>
              <a:rPr dirty="0"/>
              <a:t>ETL quality and freshness.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Health score uses weighted reliability model.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Master adds rolling trend and spike detection.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800">
                <a:solidFill>
                  <a:srgbClr val="1E293B"/>
                </a:solidFill>
              </a:defRPr>
            </a:pPr>
            <a:r>
              <a:rPr dirty="0"/>
              <a:t>Risk score prioritizes optimization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50930" y="6492240"/>
            <a:ext cx="52771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05</a:t>
            </a:r>
            <a:r>
              <a:rPr dirty="0"/>
              <a:t>/</a:t>
            </a:r>
            <a:r>
              <a:rPr lang="en-US" dirty="0"/>
              <a:t>09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9872" y="73152"/>
            <a:ext cx="191770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dirty="0"/>
              <a:t>Power BI Dashboard</a:t>
            </a:r>
          </a:p>
        </p:txBody>
      </p:sp>
      <p:pic>
        <p:nvPicPr>
          <p:cNvPr id="6" name="Picture 5" descr="powerbi_screenshot.png"/>
          <p:cNvPicPr>
            <a:picLocks noChangeAspect="1"/>
          </p:cNvPicPr>
          <p:nvPr/>
        </p:nvPicPr>
        <p:blipFill>
          <a:blip r:embed="rId2"/>
          <a:srcRect l="8502" t="12062" r="16887" b="12670"/>
          <a:stretch>
            <a:fillRect/>
          </a:stretch>
        </p:blipFill>
        <p:spPr>
          <a:xfrm>
            <a:off x="117985" y="602570"/>
            <a:ext cx="11952853" cy="6182278"/>
          </a:xfrm>
          <a:prstGeom prst="rect">
            <a:avLst/>
          </a:prstGeom>
          <a:effectLst>
            <a:glow rad="139700">
              <a:schemeClr val="accent1">
                <a:satMod val="175000"/>
                <a:alpha val="40000"/>
              </a:schemeClr>
            </a:glow>
            <a:softEdge rad="12700"/>
          </a:effectLst>
        </p:spPr>
      </p:pic>
      <p:sp>
        <p:nvSpPr>
          <p:cNvPr id="7" name="TextBox 6"/>
          <p:cNvSpPr txBox="1"/>
          <p:nvPr/>
        </p:nvSpPr>
        <p:spPr>
          <a:xfrm>
            <a:off x="320040" y="6473952"/>
            <a:ext cx="18473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475569"/>
                </a:solidFill>
              </a:defRPr>
            </a:pPr>
            <a:endParaRPr lang="en-US" dirty="0"/>
          </a:p>
          <a:p>
            <a:pPr>
              <a:defRPr sz="1000">
                <a:solidFill>
                  <a:srgbClr val="475569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Power BI Output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20443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Observed KPI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2776" y="2488545"/>
            <a:ext cx="2997744" cy="18876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b="1" dirty="0"/>
              <a:t>Total Requests: </a:t>
            </a:r>
            <a:r>
              <a:rPr dirty="0"/>
              <a:t>19.97K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b="1" dirty="0"/>
              <a:t>Success Rate: </a:t>
            </a:r>
            <a:r>
              <a:rPr dirty="0"/>
              <a:t>79.27%</a:t>
            </a:r>
            <a:endParaRPr lang="en-US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b="1" dirty="0"/>
              <a:t>Error Rate: </a:t>
            </a:r>
            <a:r>
              <a:rPr dirty="0"/>
              <a:t>10.07%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b="1" dirty="0"/>
              <a:t>Average Latency: </a:t>
            </a:r>
            <a:r>
              <a:rPr dirty="0"/>
              <a:t>0.494 sec</a:t>
            </a:r>
            <a:endParaRPr lang="en-US" dirty="0"/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b="1" dirty="0"/>
              <a:t>SLA Breach Rate: </a:t>
            </a:r>
            <a:r>
              <a:rPr dirty="0"/>
              <a:t>48.43%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8105" y="183175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Meaning and 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488545"/>
            <a:ext cx="3548792" cy="1508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285750" indent="-285750">
              <a:spcAft>
                <a:spcPts val="800"/>
              </a:spcAft>
              <a:buFont typeface="Calibri" panose="020F0502020204030204" pitchFamily="34" charset="0"/>
              <a:buChar char="&gt;"/>
              <a:defRPr sz="1800">
                <a:solidFill>
                  <a:srgbClr val="1E293B"/>
                </a:solidFill>
              </a:defRPr>
            </a:pPr>
            <a:r>
              <a:rPr dirty="0"/>
              <a:t>Traffic has clear peak windows.</a:t>
            </a:r>
          </a:p>
          <a:p>
            <a:pPr marL="285750" indent="-285750">
              <a:spcAft>
                <a:spcPts val="800"/>
              </a:spcAft>
              <a:buFont typeface="Calibri" panose="020F0502020204030204" pitchFamily="34" charset="0"/>
              <a:buChar char="&gt;"/>
              <a:defRPr sz="1800">
                <a:solidFill>
                  <a:srgbClr val="1E293B"/>
                </a:solidFill>
              </a:defRPr>
            </a:pPr>
            <a:r>
              <a:rPr dirty="0"/>
              <a:t>Reliability is moderate, not ideal.</a:t>
            </a:r>
          </a:p>
          <a:p>
            <a:pPr marL="285750" indent="-285750">
              <a:spcAft>
                <a:spcPts val="800"/>
              </a:spcAft>
              <a:buFont typeface="Calibri" panose="020F0502020204030204" pitchFamily="34" charset="0"/>
              <a:buChar char="&gt;"/>
              <a:defRPr sz="1800">
                <a:solidFill>
                  <a:srgbClr val="1E293B"/>
                </a:solidFill>
              </a:defRPr>
            </a:pPr>
            <a:r>
              <a:rPr dirty="0"/>
              <a:t>SLA breach is the top concern.</a:t>
            </a:r>
          </a:p>
          <a:p>
            <a:pPr marL="285750" indent="-285750">
              <a:spcAft>
                <a:spcPts val="800"/>
              </a:spcAft>
              <a:buFont typeface="Calibri" panose="020F0502020204030204" pitchFamily="34" charset="0"/>
              <a:buChar char="&gt;"/>
              <a:defRPr sz="1800">
                <a:solidFill>
                  <a:srgbClr val="1E293B"/>
                </a:solidFill>
              </a:defRPr>
            </a:pPr>
            <a:r>
              <a:rPr dirty="0"/>
              <a:t>Fix high-risk endpoints first.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50931" y="6492240"/>
            <a:ext cx="52770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07</a:t>
            </a:r>
            <a:r>
              <a:rPr dirty="0"/>
              <a:t>/</a:t>
            </a:r>
            <a:r>
              <a:rPr lang="en-US" dirty="0"/>
              <a:t>09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0C27-5756-D438-FBB0-114EADF57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5E79DAA-69E9-F5A5-29D6-9868477348EC}"/>
              </a:ext>
            </a:extLst>
          </p:cNvPr>
          <p:cNvSpPr/>
          <p:nvPr/>
        </p:nvSpPr>
        <p:spPr>
          <a:xfrm>
            <a:off x="-127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98FB01-D50D-3B4F-A113-99F442382F5B}"/>
              </a:ext>
            </a:extLst>
          </p:cNvPr>
          <p:cNvSpPr txBox="1"/>
          <p:nvPr/>
        </p:nvSpPr>
        <p:spPr>
          <a:xfrm>
            <a:off x="319913" y="73152"/>
            <a:ext cx="1555234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rPr lang="en-US" sz="1600" b="1" dirty="0"/>
              <a:t>Business Impact</a:t>
            </a:r>
            <a:endParaRPr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503026F-4E37-7167-2117-59A713066F64}"/>
              </a:ext>
            </a:extLst>
          </p:cNvPr>
          <p:cNvSpPr/>
          <p:nvPr/>
        </p:nvSpPr>
        <p:spPr>
          <a:xfrm>
            <a:off x="1084883" y="1188720"/>
            <a:ext cx="10615504" cy="5212081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8E11C4-682F-5DE5-B662-B639AE237DDA}"/>
              </a:ext>
            </a:extLst>
          </p:cNvPr>
          <p:cNvSpPr txBox="1"/>
          <p:nvPr/>
        </p:nvSpPr>
        <p:spPr>
          <a:xfrm>
            <a:off x="1359203" y="1901068"/>
            <a:ext cx="1845955" cy="4154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lang="en-US" sz="2100" b="1" dirty="0"/>
              <a:t>Key  Outcomes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1369-EBE0-F222-AD47-126A6AFA254A}"/>
              </a:ext>
            </a:extLst>
          </p:cNvPr>
          <p:cNvSpPr txBox="1"/>
          <p:nvPr/>
        </p:nvSpPr>
        <p:spPr>
          <a:xfrm>
            <a:off x="1542459" y="2586868"/>
            <a:ext cx="7778521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Detects slow queries </a:t>
            </a:r>
            <a:r>
              <a:rPr lang="en-US" b="1" dirty="0"/>
              <a:t>BEFORE system failures.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Improves system reliability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Helps identify root causes quickly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Enables data-driven performance optimization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Helps teams proactively monitor and optimize system performance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ü"/>
              <a:defRPr sz="1800">
                <a:solidFill>
                  <a:srgbClr val="1E293B"/>
                </a:solidFill>
              </a:defRPr>
            </a:pPr>
            <a:r>
              <a:rPr lang="en-US" dirty="0"/>
              <a:t>Enables proactive monitoring and optimization</a:t>
            </a:r>
            <a:endParaRPr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EF1F87-7140-8A27-05F3-2AE886643FDB}"/>
              </a:ext>
            </a:extLst>
          </p:cNvPr>
          <p:cNvSpPr txBox="1"/>
          <p:nvPr/>
        </p:nvSpPr>
        <p:spPr>
          <a:xfrm>
            <a:off x="11450804" y="6492240"/>
            <a:ext cx="527709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07</a:t>
            </a:r>
            <a:r>
              <a:rPr dirty="0"/>
              <a:t>/</a:t>
            </a:r>
            <a:r>
              <a:rPr lang="en-US" dirty="0"/>
              <a:t>09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72819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5029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Strengths, Validation, and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2745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t>Current Strengths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4920" y="2674947"/>
            <a:ext cx="4795800" cy="1508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Complete flow from generator to dashboard.</a:t>
            </a:r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Clean and rejected paths are separated.</a:t>
            </a:r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Rejected </a:t>
            </a:r>
            <a:r>
              <a:rPr lang="en-US" dirty="0"/>
              <a:t>data is stored and can be analyzed.</a:t>
            </a:r>
            <a:endParaRPr dirty="0"/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Risk scoring and root-cause actions add depth.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188720"/>
            <a:ext cx="5394960" cy="5212080"/>
          </a:xfrm>
          <a:prstGeom prst="rect">
            <a:avLst/>
          </a:prstGeom>
          <a:solidFill>
            <a:srgbClr val="FFFFFF"/>
          </a:solidFill>
          <a:ln>
            <a:solidFill>
              <a:srgbClr val="DCE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28105" y="1948589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008577"/>
                </a:solidFill>
              </a:defRPr>
            </a:pPr>
            <a:r>
              <a:rPr dirty="0"/>
              <a:t>Next Improvements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74946"/>
            <a:ext cx="5114734" cy="15081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Automate runs with scheduling and alerts.</a:t>
            </a:r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Add partitioning for larger datasets.</a:t>
            </a:r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Add </a:t>
            </a:r>
            <a:r>
              <a:rPr lang="en-US" dirty="0"/>
              <a:t>security(</a:t>
            </a:r>
            <a:r>
              <a:rPr dirty="0"/>
              <a:t>RBAC</a:t>
            </a:r>
            <a:r>
              <a:rPr lang="en-US" dirty="0"/>
              <a:t>)</a:t>
            </a:r>
            <a:r>
              <a:rPr dirty="0"/>
              <a:t> and query</a:t>
            </a:r>
            <a:r>
              <a:rPr lang="en-US" dirty="0"/>
              <a:t> validation</a:t>
            </a:r>
            <a:r>
              <a:rPr dirty="0"/>
              <a:t> checks.</a:t>
            </a:r>
            <a:endParaRPr lang="en-US" dirty="0"/>
          </a:p>
          <a:p>
            <a:pPr marL="400050" indent="-400050">
              <a:spcAft>
                <a:spcPts val="800"/>
              </a:spcAft>
              <a:buFont typeface="+mj-lt"/>
              <a:buAutoNum type="romanUcPeriod"/>
              <a:defRPr sz="1800">
                <a:solidFill>
                  <a:srgbClr val="1E293B"/>
                </a:solidFill>
              </a:defRPr>
            </a:pPr>
            <a:r>
              <a:rPr dirty="0"/>
              <a:t>Connect to real upstream sources.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50930" y="6492240"/>
            <a:ext cx="527710" cy="2616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475569"/>
                </a:solidFill>
              </a:defRPr>
            </a:pPr>
            <a:r>
              <a:rPr lang="en-US" dirty="0"/>
              <a:t>08/09</a:t>
            </a:r>
            <a:endParaRPr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754880"/>
            <a:ext cx="12188952" cy="2103120"/>
          </a:xfrm>
          <a:prstGeom prst="rect">
            <a:avLst/>
          </a:prstGeom>
          <a:solidFill>
            <a:srgbClr val="0E2B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32792" y="1600200"/>
            <a:ext cx="5756641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0E2B54"/>
                </a:solidFill>
              </a:defRPr>
            </a:pPr>
            <a:r>
              <a:rPr dirty="0"/>
              <a:t>Thank You</a:t>
            </a:r>
          </a:p>
          <a:p>
            <a:pPr>
              <a:defRPr sz="2200">
                <a:solidFill>
                  <a:srgbClr val="008577"/>
                </a:solidFill>
              </a:defRPr>
            </a:pPr>
            <a:r>
              <a:rPr lang="en-US" sz="1200" dirty="0"/>
              <a:t>  Instead of reacting to failures, this system helps detect issues early and act proactively.</a:t>
            </a:r>
            <a:endParaRPr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543</Words>
  <Application>Microsoft Office PowerPoint</Application>
  <PresentationFormat>Custom</PresentationFormat>
  <Paragraphs>111</Paragraphs>
  <Slides>10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Narrow</vt:lpstr>
      <vt:lpstr>Arial</vt:lpstr>
      <vt:lpstr>Calibri</vt:lpstr>
      <vt:lpstr>Courier New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Karthick Raja</dc:creator>
  <cp:keywords/>
  <dc:description>generated using python-pptx</dc:description>
  <cp:lastModifiedBy>Karthick Raja</cp:lastModifiedBy>
  <cp:revision>5</cp:revision>
  <dcterms:created xsi:type="dcterms:W3CDTF">2013-01-27T09:14:16Z</dcterms:created>
  <dcterms:modified xsi:type="dcterms:W3CDTF">2026-03-28T13:44:08Z</dcterms:modified>
  <cp:category/>
</cp:coreProperties>
</file>