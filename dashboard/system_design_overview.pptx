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4" r:id="rId9"/>
    <p:sldId id="267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88FA63-06C2-4370-8EF6-1412FE8ABE0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26984-3C7D-4BF7-B007-BFEB3AD92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26984-3C7D-4BF7-B007-BFEB3AD92F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73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731520"/>
            <a:ext cx="109728" cy="5120640"/>
          </a:xfrm>
          <a:prstGeom prst="rect">
            <a:avLst/>
          </a:prstGeom>
          <a:solidFill>
            <a:srgbClr val="008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8205" y="2651760"/>
            <a:ext cx="864518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0E2B54"/>
                </a:solidFill>
              </a:defRPr>
            </a:pPr>
            <a:r>
              <a:rPr dirty="0"/>
              <a:t>Database </a:t>
            </a:r>
            <a:r>
              <a:rPr lang="en-US" dirty="0"/>
              <a:t>P</a:t>
            </a:r>
            <a:r>
              <a:rPr dirty="0"/>
              <a:t>erformance </a:t>
            </a:r>
            <a:r>
              <a:rPr lang="en-US" dirty="0"/>
              <a:t>Monitoring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67031" y="3328868"/>
            <a:ext cx="554671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93B"/>
                </a:solidFill>
              </a:defRPr>
            </a:pPr>
            <a:r>
              <a:rPr sz="1000" dirty="0"/>
              <a:t>Scope: Log Simulation | Data Validation | ETL Quality | KPI &amp; Advanced Analytics | Dashboard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9356"/>
            <a:ext cx="5394960" cy="5161444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86816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Ingestion and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9356"/>
            <a:ext cx="5394960" cy="5161444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05803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473952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431266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02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B1130AF-161C-D1CD-7EEB-D41EF438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11940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170FFA56-6B47-4395-096A-C6C577546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291" y="3303770"/>
            <a:ext cx="52923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D274F72-DF46-0720-8F94-D92C77DC7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291" y="2640598"/>
            <a:ext cx="369028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Logs are </a:t>
            </a:r>
            <a:r>
              <a:rPr lang="en-US" b="1" dirty="0"/>
              <a:t>too many and messy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Hard to understand directly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Monitoring is </a:t>
            </a:r>
            <a:r>
              <a:rPr lang="en-US" b="1" dirty="0"/>
              <a:t>manual and slow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We react </a:t>
            </a:r>
            <a:r>
              <a:rPr lang="en-US" i="1" dirty="0"/>
              <a:t>after</a:t>
            </a:r>
            <a:r>
              <a:rPr lang="en-US" dirty="0"/>
              <a:t> issues happen</a:t>
            </a: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Bad data is </a:t>
            </a:r>
            <a:r>
              <a:rPr lang="en-US" b="1" dirty="0"/>
              <a:t>hidden or ignored</a:t>
            </a: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→ Causes wrong analysis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7ECF7EA-3CB8-61B9-AFE1-D57AC07D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9935" y="2691234"/>
            <a:ext cx="452349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monitoring pipeline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From logs → database → dashboard</a:t>
            </a:r>
          </a:p>
          <a:p>
            <a:pPr lvl="1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data  |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❌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Rejected (bad)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SQL </a:t>
            </a:r>
            <a:r>
              <a:rPr lang="en-US" altLang="en-US" dirty="0"/>
              <a:t>to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calculate: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KPIs (success rate, latency) 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Risk metrics (slow queries, errors)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everything 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8F3CA6-C6B0-8F15-5BED-33D72DAF3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349270"/>
              </p:ext>
            </p:extLst>
          </p:nvPr>
        </p:nvGraphicFramePr>
        <p:xfrm>
          <a:off x="1722120" y="5227193"/>
          <a:ext cx="3048000" cy="36576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78151097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5875473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214075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17261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04263984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259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325816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D2040640-B72E-7D68-88DB-E18CCFDE2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20307"/>
            <a:ext cx="5120640" cy="530102"/>
          </a:xfrm>
          <a:prstGeom prst="rect">
            <a:avLst/>
          </a:prstGeom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Architecture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4636" y="997558"/>
            <a:ext cx="57122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577"/>
                </a:solidFill>
              </a:defRPr>
            </a:pPr>
            <a:r>
              <a:rPr sz="1600" dirty="0"/>
              <a:t>End-to-End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Log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1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7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Storage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SQL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9176" y="2359152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8577"/>
                </a:solidFill>
              </a:defRPr>
            </a:pPr>
            <a: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201168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B54"/>
                </a:solidFill>
              </a:defRPr>
            </a:pPr>
            <a:r>
              <a:t>Power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7696" y="3810001"/>
            <a:ext cx="8341258" cy="14696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Raw events are generated continuously and written to data/log.csv.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Business and technical validation separates clean records from rejected records.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b="1" dirty="0" err="1"/>
              <a:t>system_logs</a:t>
            </a:r>
            <a:r>
              <a:rPr b="1" dirty="0"/>
              <a:t>, </a:t>
            </a:r>
            <a:r>
              <a:rPr b="1" dirty="0" err="1"/>
              <a:t>rejected_logs</a:t>
            </a:r>
            <a:r>
              <a:rPr b="1" dirty="0"/>
              <a:t>, </a:t>
            </a:r>
            <a:r>
              <a:rPr dirty="0"/>
              <a:t>and </a:t>
            </a:r>
            <a:r>
              <a:rPr b="1" dirty="0" err="1"/>
              <a:t>etl_metrics</a:t>
            </a:r>
            <a:r>
              <a:rPr b="1" dirty="0"/>
              <a:t> </a:t>
            </a:r>
            <a:r>
              <a:rPr dirty="0"/>
              <a:t>maintain analytic and governance state.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SQL scripts compute </a:t>
            </a:r>
            <a:r>
              <a:rPr b="1" dirty="0"/>
              <a:t>KPI, trend, tail-latency,</a:t>
            </a:r>
            <a:r>
              <a:rPr dirty="0"/>
              <a:t> and </a:t>
            </a:r>
            <a:r>
              <a:rPr b="1" dirty="0"/>
              <a:t>risk metrics </a:t>
            </a:r>
            <a:r>
              <a:rPr dirty="0"/>
              <a:t>for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03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5985" y="186325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Core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147" y="2979152"/>
            <a:ext cx="515947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system_logs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request-level fact table.</a:t>
            </a: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rejected_logs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invalid rows with reason.</a:t>
            </a: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etl_metrics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run totals and freshness.</a:t>
            </a:r>
            <a:endParaRPr lang="en-US" sz="2000" dirty="0">
              <a:latin typeface="+mj-lt"/>
            </a:endParaRPr>
          </a:p>
          <a:p>
            <a:pPr marL="457200" indent="-457200">
              <a:spcAft>
                <a:spcPts val="800"/>
              </a:spcAft>
              <a:buFont typeface="+mj-lt"/>
              <a:buAutoNum type="arabicPeriod"/>
              <a:defRPr sz="1800">
                <a:solidFill>
                  <a:srgbClr val="1E293B"/>
                </a:solidFill>
              </a:defRPr>
            </a:pPr>
            <a:r>
              <a:rPr sz="2100" b="1" dirty="0" err="1">
                <a:solidFill>
                  <a:srgbClr val="008577"/>
                </a:solidFill>
              </a:rPr>
              <a:t>system_logs_archive</a:t>
            </a:r>
            <a:r>
              <a:rPr sz="2100" b="1" dirty="0">
                <a:solidFill>
                  <a:srgbClr val="008577"/>
                </a:solidFill>
              </a:rPr>
              <a:t>: </a:t>
            </a:r>
            <a:r>
              <a:rPr sz="2000" dirty="0">
                <a:latin typeface="+mj-lt"/>
              </a:rPr>
              <a:t>long-term retention.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6472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Data Quality and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939476"/>
            <a:ext cx="4467890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CHECK constraints protect data quality.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FK links rejected rows to ETL run.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b="1" dirty="0"/>
              <a:t>Indexes speed time and endpoint queries.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Orphan check confirms audit integrity.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502072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04/09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Analytics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Basic and Advanced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Basic: 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traffic,</a:t>
            </a:r>
            <a:endParaRPr lang="en-US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reliability,</a:t>
            </a:r>
            <a:endParaRPr lang="en-US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/>
              <a:t>latency.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Trend: </a:t>
            </a:r>
            <a:r>
              <a:rPr lang="en-US" b="1" dirty="0"/>
              <a:t> </a:t>
            </a:r>
            <a:r>
              <a:rPr dirty="0"/>
              <a:t>spikes by minute and hour.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Endpoint: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slow</a:t>
            </a:r>
            <a:r>
              <a:rPr lang="en-US" dirty="0">
                <a:solidFill>
                  <a:srgbClr val="1E293B"/>
                </a:solidFill>
              </a:rPr>
              <a:t> </a:t>
            </a: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failure-prone APIs.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  <a:defRPr sz="1800">
                <a:solidFill>
                  <a:srgbClr val="1E293B"/>
                </a:solidFill>
              </a:defRPr>
            </a:pPr>
            <a:r>
              <a:rPr b="1" dirty="0"/>
              <a:t>Advanced: </a:t>
            </a:r>
            <a:endParaRPr lang="en-US" b="1" dirty="0"/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latency buckets,</a:t>
            </a:r>
            <a:endParaRPr lang="en-US" dirty="0">
              <a:solidFill>
                <a:srgbClr val="1E293B"/>
              </a:solidFill>
            </a:endParaRP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P95,</a:t>
            </a:r>
            <a:endParaRPr lang="en-US" dirty="0">
              <a:solidFill>
                <a:srgbClr val="1E293B"/>
              </a:solidFill>
            </a:endParaRPr>
          </a:p>
          <a:p>
            <a:pPr marL="400050" indent="-400050">
              <a:spcAft>
                <a:spcPts val="800"/>
              </a:spcAft>
              <a:buClr>
                <a:schemeClr val="accent2">
                  <a:lumMod val="75000"/>
                </a:schemeClr>
              </a:buClr>
              <a:buSzPct val="80000"/>
              <a:buFont typeface="+mj-lt"/>
              <a:buAutoNum type="romanLcPeriod"/>
              <a:defRPr sz="1800">
                <a:solidFill>
                  <a:srgbClr val="1E293B"/>
                </a:solidFill>
              </a:defRPr>
            </a:pPr>
            <a:r>
              <a:rPr dirty="0">
                <a:solidFill>
                  <a:srgbClr val="1E293B"/>
                </a:solidFill>
              </a:rPr>
              <a:t>P99.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KPI and Master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786375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rPr b="1" dirty="0"/>
              <a:t>KPI: </a:t>
            </a:r>
            <a:endParaRPr lang="en-US" b="1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lang="en-US" dirty="0"/>
              <a:t>	</a:t>
            </a:r>
            <a:r>
              <a:rPr dirty="0"/>
              <a:t>ETL quality and freshness.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Health score uses weighted reliability model.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Master adds rolling trend and spike detection.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</a:defRPr>
            </a:pPr>
            <a:r>
              <a:rPr dirty="0"/>
              <a:t>Risk score prioritizes optimization 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05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Power BI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0443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Observed KPI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776" y="2488545"/>
            <a:ext cx="2997744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Total Requests: </a:t>
            </a:r>
            <a:r>
              <a:rPr dirty="0"/>
              <a:t>19.97K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Success Rate: </a:t>
            </a:r>
            <a:r>
              <a:rPr dirty="0"/>
              <a:t>79.27%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Error Rate: </a:t>
            </a:r>
            <a:r>
              <a:rPr dirty="0"/>
              <a:t>10.07%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Average Latency: </a:t>
            </a:r>
            <a:r>
              <a:rPr dirty="0"/>
              <a:t>0.494 sec</a:t>
            </a:r>
            <a:endParaRPr lang="en-US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  <a:defRPr sz="1800">
                <a:solidFill>
                  <a:srgbClr val="1E293B"/>
                </a:solidFill>
              </a:defRPr>
            </a:pPr>
            <a:r>
              <a:rPr b="1" dirty="0"/>
              <a:t>SLA Breach Rate: </a:t>
            </a:r>
            <a:r>
              <a:rPr dirty="0"/>
              <a:t>48.43%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105" y="183175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Meaning and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88545"/>
            <a:ext cx="3548792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Traffic has clear peak windows.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Reliability is moderate, not ideal.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SLA breach is the top concern.</a:t>
            </a:r>
          </a:p>
          <a:p>
            <a:pPr marL="285750" indent="-285750">
              <a:spcAft>
                <a:spcPts val="800"/>
              </a:spcAft>
              <a:buFont typeface="Calibri" panose="020F0502020204030204" pitchFamily="34" charset="0"/>
              <a:buChar char="&gt;"/>
              <a:defRPr sz="1800">
                <a:solidFill>
                  <a:srgbClr val="1E293B"/>
                </a:solidFill>
              </a:defRPr>
            </a:pPr>
            <a:r>
              <a:rPr dirty="0"/>
              <a:t>Fix high-risk endpoints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06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Power BI Dashboard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0232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2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owerbi_screenshot.png"/>
          <p:cNvPicPr>
            <a:picLocks noChangeAspect="1"/>
          </p:cNvPicPr>
          <p:nvPr/>
        </p:nvPicPr>
        <p:blipFill>
          <a:blip r:embed="rId2"/>
          <a:srcRect l="8502" t="12062" r="16887" b="12670"/>
          <a:stretch>
            <a:fillRect/>
          </a:stretch>
        </p:blipFill>
        <p:spPr>
          <a:xfrm>
            <a:off x="812115" y="1222149"/>
            <a:ext cx="10564594" cy="4916621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softEdge rad="12700"/>
          </a:effectLst>
        </p:spPr>
      </p:pic>
      <p:sp>
        <p:nvSpPr>
          <p:cNvPr id="7" name="TextBox 6"/>
          <p:cNvSpPr txBox="1"/>
          <p:nvPr/>
        </p:nvSpPr>
        <p:spPr>
          <a:xfrm>
            <a:off x="320040" y="6473952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endParaRPr lang="en-US" dirty="0"/>
          </a:p>
          <a:p>
            <a:pPr>
              <a:defRPr sz="1000">
                <a:solidFill>
                  <a:srgbClr val="475569"/>
                </a:solidFill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07</a:t>
            </a:r>
            <a:r>
              <a:rPr dirty="0"/>
              <a:t>/</a:t>
            </a:r>
            <a:r>
              <a:rPr lang="en-US" dirty="0"/>
              <a:t>09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Strengths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2745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t>Current 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920" y="2674947"/>
            <a:ext cx="4795800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Complete flow from generator to dashboard.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Clean and rejected paths are separated.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Rejected </a:t>
            </a:r>
            <a:r>
              <a:rPr lang="en-US" dirty="0"/>
              <a:t>data is stored and can be analyzed.</a:t>
            </a:r>
            <a:endParaRPr dirty="0"/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P95/P99 and risk score add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188720"/>
            <a:ext cx="5394960" cy="5212080"/>
          </a:xfrm>
          <a:prstGeom prst="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105" y="194858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577"/>
                </a:solidFill>
              </a:defRPr>
            </a:pPr>
            <a:r>
              <a:rPr dirty="0"/>
              <a:t>Next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74946"/>
            <a:ext cx="5114734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Automate runs with scheduling and alerts.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Add partitioning for larger datasets.</a:t>
            </a:r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Add </a:t>
            </a:r>
            <a:r>
              <a:rPr lang="en-US" dirty="0"/>
              <a:t>security(</a:t>
            </a:r>
            <a:r>
              <a:rPr dirty="0"/>
              <a:t>RBAC</a:t>
            </a:r>
            <a:r>
              <a:rPr lang="en-US" dirty="0"/>
              <a:t>)</a:t>
            </a:r>
            <a:r>
              <a:rPr dirty="0"/>
              <a:t> and query</a:t>
            </a:r>
            <a:r>
              <a:rPr lang="en-US" dirty="0"/>
              <a:t> validation</a:t>
            </a:r>
            <a:r>
              <a:rPr dirty="0"/>
              <a:t> checks.</a:t>
            </a:r>
            <a:endParaRPr lang="en-US" dirty="0"/>
          </a:p>
          <a:p>
            <a:pPr marL="400050" indent="-400050">
              <a:spcAft>
                <a:spcPts val="800"/>
              </a:spcAft>
              <a:buFont typeface="+mj-lt"/>
              <a:buAutoNum type="romanUcPeriod"/>
              <a:defRPr sz="1800">
                <a:solidFill>
                  <a:srgbClr val="1E293B"/>
                </a:solidFill>
              </a:defRPr>
            </a:pPr>
            <a:r>
              <a:rPr dirty="0"/>
              <a:t>Connect to real upstream sources.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50930" y="6492240"/>
            <a:ext cx="52771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rPr lang="en-US" dirty="0"/>
              <a:t>08/09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E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0E2B54"/>
                </a:solidFill>
              </a:defRPr>
            </a:pPr>
            <a:r>
              <a:rPr dirty="0"/>
              <a:t>Thank You</a:t>
            </a:r>
          </a:p>
          <a:p>
            <a:pPr>
              <a:defRPr sz="2200">
                <a:solidFill>
                  <a:srgbClr val="008577"/>
                </a:solidFill>
              </a:defRPr>
            </a:pPr>
            <a:r>
              <a:rPr dirty="0"/>
              <a:t>End-to-End ETL + SQL Analytics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485</Words>
  <Application>Microsoft Office PowerPoint</Application>
  <PresentationFormat>Custom</PresentationFormat>
  <Paragraphs>103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Narrow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Karthick Raja</dc:creator>
  <cp:keywords/>
  <dc:description>generated using python-pptx</dc:description>
  <cp:lastModifiedBy>Karthick Raja</cp:lastModifiedBy>
  <cp:revision>3</cp:revision>
  <dcterms:created xsi:type="dcterms:W3CDTF">2013-01-27T09:14:16Z</dcterms:created>
  <dcterms:modified xsi:type="dcterms:W3CDTF">2026-03-23T15:28:29Z</dcterms:modified>
  <cp:category/>
</cp:coreProperties>
</file>